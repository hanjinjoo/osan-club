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21" Type="http://schemas.openxmlformats.org/officeDocument/2006/relationships/image" Target="../media/image29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18" Type="http://schemas.openxmlformats.org/officeDocument/2006/relationships/image" Target="../media/image22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17" Type="http://schemas.openxmlformats.org/officeDocument/2006/relationships/image" Target="../media/image18.png"/><Relationship Id="rId2" Type="http://schemas.openxmlformats.org/officeDocument/2006/relationships/image" Target="../media/image11.png"/><Relationship Id="rId16" Type="http://schemas.openxmlformats.org/officeDocument/2006/relationships/image" Target="../media/image4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21.png"/><Relationship Id="rId5" Type="http://schemas.openxmlformats.org/officeDocument/2006/relationships/image" Target="../media/image32.png"/><Relationship Id="rId15" Type="http://schemas.openxmlformats.org/officeDocument/2006/relationships/image" Target="../media/image40.png"/><Relationship Id="rId10" Type="http://schemas.openxmlformats.org/officeDocument/2006/relationships/image" Target="../media/image17.png"/><Relationship Id="rId19" Type="http://schemas.openxmlformats.org/officeDocument/2006/relationships/image" Target="../media/image4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4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11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31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67.jpeg"/><Relationship Id="rId3" Type="http://schemas.openxmlformats.org/officeDocument/2006/relationships/image" Target="../media/image31.png"/><Relationship Id="rId7" Type="http://schemas.openxmlformats.org/officeDocument/2006/relationships/image" Target="../media/image49.png"/><Relationship Id="rId12" Type="http://schemas.openxmlformats.org/officeDocument/2006/relationships/image" Target="../media/image66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65.jpeg"/><Relationship Id="rId5" Type="http://schemas.openxmlformats.org/officeDocument/2006/relationships/image" Target="../media/image46.png"/><Relationship Id="rId10" Type="http://schemas.openxmlformats.org/officeDocument/2006/relationships/image" Target="../media/image61.png"/><Relationship Id="rId4" Type="http://schemas.openxmlformats.org/officeDocument/2006/relationships/image" Target="../media/image45.png"/><Relationship Id="rId9" Type="http://schemas.openxmlformats.org/officeDocument/2006/relationships/image" Target="../media/image52.png"/><Relationship Id="rId14" Type="http://schemas.openxmlformats.org/officeDocument/2006/relationships/image" Target="../media/image6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9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11.png"/><Relationship Id="rId16" Type="http://schemas.openxmlformats.org/officeDocument/2006/relationships/image" Target="../media/image8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31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70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1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31.png"/><Relationship Id="rId9" Type="http://schemas.openxmlformats.org/officeDocument/2006/relationships/image" Target="../media/image7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92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11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31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5.png"/><Relationship Id="rId3" Type="http://schemas.openxmlformats.org/officeDocument/2006/relationships/image" Target="../media/image107.png"/><Relationship Id="rId7" Type="http://schemas.openxmlformats.org/officeDocument/2006/relationships/image" Target="../media/image110.png"/><Relationship Id="rId12" Type="http://schemas.openxmlformats.org/officeDocument/2006/relationships/image" Target="../media/image1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3.png"/><Relationship Id="rId5" Type="http://schemas.openxmlformats.org/officeDocument/2006/relationships/image" Target="../media/image108.png"/><Relationship Id="rId10" Type="http://schemas.openxmlformats.org/officeDocument/2006/relationships/image" Target="../media/image112.png"/><Relationship Id="rId4" Type="http://schemas.openxmlformats.org/officeDocument/2006/relationships/image" Target="../media/image31.png"/><Relationship Id="rId9" Type="http://schemas.openxmlformats.org/officeDocument/2006/relationships/image" Target="../media/image73.png"/><Relationship Id="rId14" Type="http://schemas.openxmlformats.org/officeDocument/2006/relationships/image" Target="../media/image1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image" Target="../media/image1.png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  <a:solidFill>
            <a:srgbClr val="B8E9FF"/>
          </a:solidFill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  <a:grpFill/>
          </p:spPr>
        </p:pic>
      </p:grpSp>
      <p:grpSp>
        <p:nvGrpSpPr>
          <p:cNvPr id="1002" name="그룹 1002"/>
          <p:cNvGrpSpPr/>
          <p:nvPr/>
        </p:nvGrpSpPr>
        <p:grpSpPr>
          <a:xfrm>
            <a:off x="4927037" y="2490403"/>
            <a:ext cx="9023517" cy="2025131"/>
            <a:chOff x="4927037" y="2490403"/>
            <a:chExt cx="9023517" cy="202513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7037" y="2490403"/>
              <a:ext cx="9023517" cy="202513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403400" y="5934780"/>
            <a:ext cx="8791578" cy="2025131"/>
            <a:chOff x="7403400" y="5934780"/>
            <a:chExt cx="8791578" cy="202513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3400" y="5934780"/>
              <a:ext cx="8791578" cy="202513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063405" y="4203790"/>
            <a:ext cx="11205107" cy="2025131"/>
            <a:chOff x="2063405" y="4203790"/>
            <a:chExt cx="11205107" cy="2025131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3405" y="4203790"/>
              <a:ext cx="11205107" cy="2025131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520634" y="4067682"/>
            <a:ext cx="12336578" cy="287966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3174619" y="1544177"/>
            <a:ext cx="2676410" cy="2025131"/>
            <a:chOff x="3174619" y="1544177"/>
            <a:chExt cx="2676410" cy="202513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4619" y="1544177"/>
              <a:ext cx="2676410" cy="202513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325640" y="6100038"/>
            <a:ext cx="2387758" cy="2470763"/>
            <a:chOff x="14325640" y="6100038"/>
            <a:chExt cx="2387758" cy="2470763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325640" y="6100038"/>
              <a:ext cx="2387758" cy="2470763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3925719" y="3876546"/>
            <a:ext cx="1361997" cy="1558004"/>
            <a:chOff x="13925719" y="3876546"/>
            <a:chExt cx="1361997" cy="1558004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925719" y="3876546"/>
              <a:ext cx="1361997" cy="155800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606717" y="582524"/>
            <a:ext cx="3075943" cy="723760"/>
            <a:chOff x="14606717" y="582524"/>
            <a:chExt cx="3075943" cy="72376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606717" y="582524"/>
              <a:ext cx="3075943" cy="723760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052577" y="809562"/>
            <a:ext cx="3465025" cy="37531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24816" y="2706350"/>
            <a:ext cx="6400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2025</a:t>
            </a:r>
            <a:r>
              <a:rPr lang="ko-KR" alt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학년도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19BB2-25E2-078F-0E82-01C12F9A5C49}"/>
              </a:ext>
            </a:extLst>
          </p:cNvPr>
          <p:cNvSpPr txBox="1"/>
          <p:nvPr/>
        </p:nvSpPr>
        <p:spPr>
          <a:xfrm>
            <a:off x="8609703" y="6300998"/>
            <a:ext cx="59970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성과공유회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9DD22-46BA-9F6E-DB9C-E9E811739BE5}"/>
              </a:ext>
            </a:extLst>
          </p:cNvPr>
          <p:cNvSpPr txBox="1"/>
          <p:nvPr/>
        </p:nvSpPr>
        <p:spPr>
          <a:xfrm>
            <a:off x="7250351" y="8232236"/>
            <a:ext cx="37850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빌드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(BUILD)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동아리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311871" y="1222880"/>
            <a:ext cx="11534946" cy="2025131"/>
            <a:chOff x="1311871" y="1222880"/>
            <a:chExt cx="11534946" cy="202513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1871" y="1222880"/>
              <a:ext cx="11534946" cy="2025131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291640" y="918989"/>
            <a:ext cx="13292968" cy="3315187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3179845" y="1241272"/>
            <a:ext cx="2000306" cy="2025131"/>
            <a:chOff x="13179845" y="1241272"/>
            <a:chExt cx="2000306" cy="202513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79845" y="1241272"/>
              <a:ext cx="2000306" cy="202513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651949" y="1852842"/>
            <a:ext cx="1056098" cy="879492"/>
            <a:chOff x="13651949" y="1852842"/>
            <a:chExt cx="1056098" cy="879492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5400000">
              <a:off x="13651949" y="1852842"/>
              <a:ext cx="1056098" cy="87949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65124" y="3757051"/>
            <a:ext cx="7714286" cy="1590476"/>
            <a:chOff x="1065124" y="3757051"/>
            <a:chExt cx="7714286" cy="1590476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5124" y="3757051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687949" y="4075575"/>
            <a:ext cx="1288908" cy="953428"/>
            <a:chOff x="1687949" y="4075575"/>
            <a:chExt cx="1288908" cy="95342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7949" y="4075575"/>
              <a:ext cx="1288908" cy="953428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696827" y="3910593"/>
            <a:ext cx="1480771" cy="1386686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931532" y="4187221"/>
            <a:ext cx="4600128" cy="930090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9132990" y="3778867"/>
            <a:ext cx="7714878" cy="1590476"/>
            <a:chOff x="9132990" y="3778867"/>
            <a:chExt cx="7714878" cy="1590476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32990" y="3778867"/>
              <a:ext cx="7714878" cy="1590476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643241" y="4097391"/>
            <a:ext cx="1288908" cy="953428"/>
            <a:chOff x="9643241" y="4097391"/>
            <a:chExt cx="1288908" cy="953428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3241" y="4097391"/>
              <a:ext cx="1288908" cy="953428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707512" y="3932407"/>
            <a:ext cx="1413324" cy="1386686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987222" y="5673016"/>
            <a:ext cx="7714286" cy="1590476"/>
            <a:chOff x="987222" y="5673016"/>
            <a:chExt cx="7714286" cy="159047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222" y="5673016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687949" y="5991540"/>
            <a:ext cx="1288908" cy="953428"/>
            <a:chOff x="1687949" y="5991540"/>
            <a:chExt cx="1288908" cy="953428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7949" y="5991540"/>
              <a:ext cx="1288908" cy="953428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762476" y="5826559"/>
            <a:ext cx="1403200" cy="1386686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922028" y="6085501"/>
            <a:ext cx="4056219" cy="930067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9142857" y="5673016"/>
            <a:ext cx="7714286" cy="1590476"/>
            <a:chOff x="9142857" y="5673016"/>
            <a:chExt cx="7714286" cy="1590476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2857" y="5673016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9643241" y="5991540"/>
            <a:ext cx="1288908" cy="953428"/>
            <a:chOff x="9643241" y="5991540"/>
            <a:chExt cx="1288908" cy="953428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3241" y="5991540"/>
              <a:ext cx="1288908" cy="953428"/>
            </a:xfrm>
            <a:prstGeom prst="rect">
              <a:avLst/>
            </a:prstGeom>
          </p:spPr>
        </p:pic>
      </p:grpSp>
      <p:pic>
        <p:nvPicPr>
          <p:cNvPr id="45" name="Object 4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9727521" y="5826559"/>
            <a:ext cx="1393238" cy="1386686"/>
          </a:xfrm>
          <a:prstGeom prst="rect">
            <a:avLst/>
          </a:prstGeom>
        </p:spPr>
      </p:pic>
      <p:pic>
        <p:nvPicPr>
          <p:cNvPr id="46" name="Object 4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0971398" y="6105892"/>
            <a:ext cx="3748924" cy="941867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987222" y="7567165"/>
            <a:ext cx="7714286" cy="1590476"/>
            <a:chOff x="987222" y="7567165"/>
            <a:chExt cx="7714286" cy="1590476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7222" y="7567165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687949" y="7885689"/>
            <a:ext cx="1288908" cy="953428"/>
            <a:chOff x="1687949" y="7885689"/>
            <a:chExt cx="1288908" cy="953428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7949" y="7885689"/>
              <a:ext cx="1288908" cy="953428"/>
            </a:xfrm>
            <a:prstGeom prst="rect">
              <a:avLst/>
            </a:prstGeom>
          </p:spPr>
        </p:pic>
      </p:grpSp>
      <p:pic>
        <p:nvPicPr>
          <p:cNvPr id="53" name="Object 5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763133" y="7720702"/>
            <a:ext cx="1402572" cy="1386686"/>
          </a:xfrm>
          <a:prstGeom prst="rect">
            <a:avLst/>
          </a:prstGeom>
        </p:spPr>
      </p:pic>
      <p:pic>
        <p:nvPicPr>
          <p:cNvPr id="54" name="Object 5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2931552" y="7979650"/>
            <a:ext cx="3125305" cy="930067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9142857" y="7644344"/>
            <a:ext cx="7714286" cy="1590476"/>
            <a:chOff x="9142857" y="7644344"/>
            <a:chExt cx="7714286" cy="1590476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2857" y="7644344"/>
              <a:ext cx="7714286" cy="1590476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9643241" y="7885689"/>
            <a:ext cx="1288908" cy="953428"/>
            <a:chOff x="9643241" y="7885689"/>
            <a:chExt cx="1288908" cy="953428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3241" y="7885689"/>
              <a:ext cx="1288908" cy="953428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4606717" y="582524"/>
            <a:ext cx="3075943" cy="723760"/>
            <a:chOff x="14606717" y="582524"/>
            <a:chExt cx="3075943" cy="723760"/>
          </a:xfrm>
        </p:grpSpPr>
        <p:pic>
          <p:nvPicPr>
            <p:cNvPr id="62" name="Object 61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606717" y="582524"/>
              <a:ext cx="3075943" cy="723760"/>
            </a:xfrm>
            <a:prstGeom prst="rect">
              <a:avLst/>
            </a:prstGeom>
          </p:spPr>
        </p:pic>
      </p:grpSp>
      <p:pic>
        <p:nvPicPr>
          <p:cNvPr id="64" name="Object 63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9712150" y="7720702"/>
            <a:ext cx="1408838" cy="1386686"/>
          </a:xfrm>
          <a:prstGeom prst="rect">
            <a:avLst/>
          </a:prstGeom>
        </p:spPr>
      </p:pic>
      <p:pic>
        <p:nvPicPr>
          <p:cNvPr id="65" name="Object 64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0952351" y="7979650"/>
            <a:ext cx="3837295" cy="930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2B4C56-9C16-C7D0-7432-09F305F6BAE3}"/>
              </a:ext>
            </a:extLst>
          </p:cNvPr>
          <p:cNvSpPr txBox="1"/>
          <p:nvPr/>
        </p:nvSpPr>
        <p:spPr>
          <a:xfrm>
            <a:off x="10971398" y="4310534"/>
            <a:ext cx="53172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1~2</a:t>
            </a:r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학기 주요활동</a:t>
            </a:r>
            <a:r>
              <a:rPr lang="en-US" altLang="ko-KR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3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지원금사용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307392" y="1382644"/>
            <a:ext cx="19568453" cy="1904730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16463" y="1040482"/>
            <a:ext cx="2773696" cy="822229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158288" y="3531648"/>
            <a:ext cx="4819744" cy="5602878"/>
            <a:chOff x="1158288" y="3531648"/>
            <a:chExt cx="4819744" cy="5602878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8288" y="3531648"/>
              <a:ext cx="4819744" cy="560287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58288" y="3536258"/>
            <a:ext cx="4819744" cy="5598269"/>
            <a:chOff x="1158288" y="3536258"/>
            <a:chExt cx="4819744" cy="559826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8288" y="3536258"/>
              <a:ext cx="4819744" cy="559826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400452" y="4565073"/>
            <a:ext cx="2335418" cy="577784"/>
            <a:chOff x="2400452" y="4565073"/>
            <a:chExt cx="2335418" cy="577784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00452" y="4565073"/>
              <a:ext cx="2335418" cy="57778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6326029" y="5469783"/>
            <a:ext cx="10801397" cy="1713770"/>
            <a:chOff x="6326029" y="5469783"/>
            <a:chExt cx="10801397" cy="1713770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26029" y="5469783"/>
              <a:ext cx="10801397" cy="171377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6558987" y="5849954"/>
            <a:ext cx="1288908" cy="953428"/>
            <a:chOff x="6558987" y="5849954"/>
            <a:chExt cx="1288908" cy="953428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8987" y="5849954"/>
              <a:ext cx="1288908" cy="953428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623254" y="5684973"/>
            <a:ext cx="1413324" cy="1386686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444027" y="6278892"/>
            <a:ext cx="2068964" cy="735346"/>
            <a:chOff x="1444027" y="6278892"/>
            <a:chExt cx="2068964" cy="735346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44027" y="6278892"/>
              <a:ext cx="2068964" cy="735346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3623330" y="6278892"/>
            <a:ext cx="2068964" cy="735346"/>
            <a:chOff x="3623330" y="6278892"/>
            <a:chExt cx="2068964" cy="73534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23330" y="6278892"/>
              <a:ext cx="2068964" cy="735346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444027" y="7235157"/>
            <a:ext cx="2068964" cy="735346"/>
            <a:chOff x="1444027" y="7235157"/>
            <a:chExt cx="2068964" cy="735346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44027" y="7235157"/>
              <a:ext cx="2068964" cy="735346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3623330" y="7235157"/>
            <a:ext cx="2068964" cy="735346"/>
            <a:chOff x="3623330" y="7235157"/>
            <a:chExt cx="2068964" cy="735346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23330" y="7235157"/>
              <a:ext cx="2068964" cy="73534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444027" y="8169282"/>
            <a:ext cx="2068964" cy="735346"/>
            <a:chOff x="1444027" y="8169282"/>
            <a:chExt cx="2068964" cy="735346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44027" y="8169282"/>
              <a:ext cx="2068964" cy="735346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6326029" y="3518809"/>
            <a:ext cx="10801397" cy="1713770"/>
            <a:chOff x="6326029" y="3518809"/>
            <a:chExt cx="10801397" cy="1713770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26029" y="3518809"/>
              <a:ext cx="10801397" cy="1713770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6558987" y="3898980"/>
            <a:ext cx="1288908" cy="953428"/>
            <a:chOff x="6558987" y="3898980"/>
            <a:chExt cx="1288908" cy="953428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8987" y="3898980"/>
              <a:ext cx="1288908" cy="953428"/>
            </a:xfrm>
            <a:prstGeom prst="rect">
              <a:avLst/>
            </a:prstGeom>
          </p:spPr>
        </p:pic>
      </p:grpSp>
      <p:pic>
        <p:nvPicPr>
          <p:cNvPr id="53" name="Object 5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567866" y="3733998"/>
            <a:ext cx="1480772" cy="1386686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6326029" y="7420756"/>
            <a:ext cx="10801397" cy="1713770"/>
            <a:chOff x="6326029" y="7420756"/>
            <a:chExt cx="10801397" cy="1713770"/>
          </a:xfrm>
        </p:grpSpPr>
        <p:pic>
          <p:nvPicPr>
            <p:cNvPr id="55" name="Object 5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26029" y="7420756"/>
              <a:ext cx="10801397" cy="1713770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6558987" y="7800927"/>
            <a:ext cx="1288908" cy="953428"/>
            <a:chOff x="6558987" y="7800927"/>
            <a:chExt cx="1288908" cy="953428"/>
          </a:xfrm>
        </p:grpSpPr>
        <p:pic>
          <p:nvPicPr>
            <p:cNvPr id="58" name="Object 57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8987" y="7800927"/>
              <a:ext cx="1288908" cy="953428"/>
            </a:xfrm>
            <a:prstGeom prst="rect">
              <a:avLst/>
            </a:prstGeom>
          </p:spPr>
        </p:pic>
      </p:grpSp>
      <p:pic>
        <p:nvPicPr>
          <p:cNvPr id="60" name="Object 59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633514" y="7635950"/>
            <a:ext cx="1403200" cy="1386686"/>
          </a:xfrm>
          <a:prstGeom prst="rect">
            <a:avLst/>
          </a:prstGeom>
        </p:spPr>
      </p:pic>
      <p:pic>
        <p:nvPicPr>
          <p:cNvPr id="62" name="Object 61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77706" y="639647"/>
            <a:ext cx="1417918" cy="857127"/>
          </a:xfrm>
          <a:prstGeom prst="rect">
            <a:avLst/>
          </a:prstGeom>
        </p:spPr>
      </p:pic>
      <p:pic>
        <p:nvPicPr>
          <p:cNvPr id="63" name="Object 62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1698622" y="639647"/>
            <a:ext cx="7560118" cy="8571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66CF05-0125-1CAC-E4A7-934754B7BAA1}"/>
              </a:ext>
            </a:extLst>
          </p:cNvPr>
          <p:cNvSpPr txBox="1"/>
          <p:nvPr/>
        </p:nvSpPr>
        <p:spPr>
          <a:xfrm>
            <a:off x="2290406" y="4406325"/>
            <a:ext cx="2555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빌드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(BUILD)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9FFACB-6332-2378-EE3A-4C453DA3B5BE}"/>
              </a:ext>
            </a:extLst>
          </p:cNvPr>
          <p:cNvSpPr txBox="1"/>
          <p:nvPr/>
        </p:nvSpPr>
        <p:spPr>
          <a:xfrm>
            <a:off x="1872824" y="5143500"/>
            <a:ext cx="3390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빌드 동아리는 쌓다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쌓아올리다의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의미를 가지고 있습니다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EE5DC-617D-CE26-33F3-0B57B80434B8}"/>
              </a:ext>
            </a:extLst>
          </p:cNvPr>
          <p:cNvSpPr txBox="1"/>
          <p:nvPr/>
        </p:nvSpPr>
        <p:spPr>
          <a:xfrm>
            <a:off x="1793065" y="6460241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#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오산대학교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E1B81-2821-62D9-3E42-DE4E9C27FCB5}"/>
              </a:ext>
            </a:extLst>
          </p:cNvPr>
          <p:cNvSpPr txBox="1"/>
          <p:nvPr/>
        </p:nvSpPr>
        <p:spPr>
          <a:xfrm>
            <a:off x="3972368" y="6460241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#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전공동아리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34537-E47E-54A9-B0AF-108F77198AD4}"/>
              </a:ext>
            </a:extLst>
          </p:cNvPr>
          <p:cNvSpPr txBox="1"/>
          <p:nvPr/>
        </p:nvSpPr>
        <p:spPr>
          <a:xfrm>
            <a:off x="1793065" y="7416506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#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솔루션빌드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9459F-3980-660B-ED9F-58DA85EAFFFD}"/>
              </a:ext>
            </a:extLst>
          </p:cNvPr>
          <p:cNvSpPr txBox="1"/>
          <p:nvPr/>
        </p:nvSpPr>
        <p:spPr>
          <a:xfrm>
            <a:off x="3972368" y="7420756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#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사람과역량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24396-521E-448E-038A-F48A7D2468E3}"/>
              </a:ext>
            </a:extLst>
          </p:cNvPr>
          <p:cNvSpPr txBox="1"/>
          <p:nvPr/>
        </p:nvSpPr>
        <p:spPr>
          <a:xfrm>
            <a:off x="2110459" y="835063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#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065B2-BC94-1F58-18C9-94E25F5C7A8E}"/>
              </a:ext>
            </a:extLst>
          </p:cNvPr>
          <p:cNvSpPr txBox="1"/>
          <p:nvPr/>
        </p:nvSpPr>
        <p:spPr>
          <a:xfrm>
            <a:off x="7989085" y="4083159"/>
            <a:ext cx="6356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전공지식 향상 및 기술 경험 확대</a:t>
            </a:r>
            <a:endParaRPr lang="en-US" altLang="ko-KR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A2C73-E0DD-6820-107C-7F8E4F9F54B6}"/>
              </a:ext>
            </a:extLst>
          </p:cNvPr>
          <p:cNvSpPr txBox="1"/>
          <p:nvPr/>
        </p:nvSpPr>
        <p:spPr>
          <a:xfrm>
            <a:off x="8048638" y="6055150"/>
            <a:ext cx="5376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실습 및 프로젝트 경험 강화</a:t>
            </a:r>
            <a:endParaRPr lang="en-US" altLang="ko-KR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AA426F-0471-C2B1-21D9-EFF33C54677C}"/>
              </a:ext>
            </a:extLst>
          </p:cNvPr>
          <p:cNvSpPr txBox="1"/>
          <p:nvPr/>
        </p:nvSpPr>
        <p:spPr>
          <a:xfrm>
            <a:off x="8052414" y="8027465"/>
            <a:ext cx="2993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협업 능력 강화</a:t>
            </a:r>
            <a:endParaRPr lang="en-US" altLang="ko-KR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350135" y="1388596"/>
            <a:ext cx="19499929" cy="189282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54683" y="1035864"/>
            <a:ext cx="2727238" cy="833609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7706" y="639647"/>
            <a:ext cx="2643147" cy="857128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3047163" y="639647"/>
            <a:ext cx="5539280" cy="857128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236304" y="3390013"/>
            <a:ext cx="7892913" cy="6015873"/>
            <a:chOff x="9236304" y="3390013"/>
            <a:chExt cx="7892913" cy="6015873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36304" y="3390013"/>
              <a:ext cx="7892913" cy="601587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56497" y="6481576"/>
            <a:ext cx="7892913" cy="2923810"/>
            <a:chOff x="1156497" y="6481576"/>
            <a:chExt cx="7892913" cy="2923810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6497" y="6481576"/>
              <a:ext cx="7892913" cy="292381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56497" y="3390013"/>
            <a:ext cx="7892913" cy="2923810"/>
            <a:chOff x="1156497" y="3390013"/>
            <a:chExt cx="7892913" cy="2923810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6497" y="3390013"/>
              <a:ext cx="7892913" cy="2923810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537946" y="3634821"/>
            <a:ext cx="2801771" cy="1007248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490519" y="3606019"/>
            <a:ext cx="1034465" cy="765212"/>
            <a:chOff x="1490519" y="3606019"/>
            <a:chExt cx="1034465" cy="76521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90519" y="3606019"/>
              <a:ext cx="1034465" cy="765212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194092" y="3512607"/>
            <a:ext cx="1609375" cy="1019051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9669210" y="5881201"/>
            <a:ext cx="7027102" cy="28571"/>
            <a:chOff x="9669210" y="5881201"/>
            <a:chExt cx="7027102" cy="28571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69210" y="5881201"/>
              <a:ext cx="7027102" cy="2857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823268" y="4539065"/>
            <a:ext cx="1141570" cy="1141570"/>
            <a:chOff x="9823268" y="4539065"/>
            <a:chExt cx="1141570" cy="114157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23268" y="4539065"/>
              <a:ext cx="1141570" cy="114157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9669210" y="7518362"/>
            <a:ext cx="7027102" cy="28571"/>
            <a:chOff x="9669210" y="7518362"/>
            <a:chExt cx="7027102" cy="28571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69210" y="7518362"/>
              <a:ext cx="7027102" cy="28571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9823268" y="6174156"/>
            <a:ext cx="1141570" cy="1141570"/>
            <a:chOff x="9823268" y="6174156"/>
            <a:chExt cx="1141570" cy="1141570"/>
          </a:xfrm>
        </p:grpSpPr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23268" y="6174156"/>
              <a:ext cx="1141570" cy="114157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9823268" y="7809248"/>
            <a:ext cx="1141570" cy="1141570"/>
            <a:chOff x="9823268" y="7809248"/>
            <a:chExt cx="1141570" cy="1141570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23268" y="7809248"/>
              <a:ext cx="1141570" cy="114157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0034736" y="6387581"/>
            <a:ext cx="751246" cy="729685"/>
            <a:chOff x="10034736" y="6387581"/>
            <a:chExt cx="751246" cy="729685"/>
          </a:xfrm>
        </p:grpSpPr>
        <p:pic>
          <p:nvPicPr>
            <p:cNvPr id="48" name="Object 47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34736" y="6387581"/>
              <a:ext cx="751246" cy="729685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9999693" y="4797327"/>
            <a:ext cx="783238" cy="616617"/>
            <a:chOff x="9999693" y="4797327"/>
            <a:chExt cx="783238" cy="616617"/>
          </a:xfrm>
        </p:grpSpPr>
        <p:pic>
          <p:nvPicPr>
            <p:cNvPr id="51" name="Object 50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99693" y="4797327"/>
              <a:ext cx="783238" cy="616617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0086027" y="7945704"/>
            <a:ext cx="686760" cy="854669"/>
            <a:chOff x="10086027" y="7945704"/>
            <a:chExt cx="686760" cy="854669"/>
          </a:xfrm>
        </p:grpSpPr>
        <p:pic>
          <p:nvPicPr>
            <p:cNvPr id="54" name="Object 5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086027" y="7945704"/>
              <a:ext cx="686760" cy="854669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6694765" y="3940620"/>
            <a:ext cx="1691993" cy="1974320"/>
            <a:chOff x="6694765" y="3940620"/>
            <a:chExt cx="1691993" cy="1974320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94765" y="3940620"/>
              <a:ext cx="1691993" cy="1974320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6694765" y="6980791"/>
            <a:ext cx="1691993" cy="1974320"/>
            <a:chOff x="6694765" y="6980791"/>
            <a:chExt cx="1691993" cy="1974320"/>
          </a:xfrm>
        </p:grpSpPr>
        <p:pic>
          <p:nvPicPr>
            <p:cNvPr id="60" name="Object 59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94765" y="6980791"/>
              <a:ext cx="1691993" cy="1974320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490519" y="6746997"/>
            <a:ext cx="1034465" cy="765212"/>
            <a:chOff x="1490519" y="6746997"/>
            <a:chExt cx="1034465" cy="765212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90519" y="6746997"/>
              <a:ext cx="1034465" cy="765212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235342" y="6653590"/>
            <a:ext cx="1561822" cy="1019050"/>
          </a:xfrm>
          <a:prstGeom prst="rect">
            <a:avLst/>
          </a:prstGeom>
        </p:spPr>
      </p:pic>
      <p:pic>
        <p:nvPicPr>
          <p:cNvPr id="66" name="Object 65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2537943" y="6803086"/>
            <a:ext cx="2921742" cy="1007247"/>
          </a:xfrm>
          <a:prstGeom prst="rect">
            <a:avLst/>
          </a:prstGeom>
        </p:spPr>
      </p:pic>
      <p:grpSp>
        <p:nvGrpSpPr>
          <p:cNvPr id="1018" name="그룹 1018"/>
          <p:cNvGrpSpPr/>
          <p:nvPr/>
        </p:nvGrpSpPr>
        <p:grpSpPr>
          <a:xfrm>
            <a:off x="11095891" y="3525743"/>
            <a:ext cx="1034465" cy="765212"/>
            <a:chOff x="11095891" y="3525743"/>
            <a:chExt cx="1034465" cy="765212"/>
          </a:xfrm>
        </p:grpSpPr>
        <p:pic>
          <p:nvPicPr>
            <p:cNvPr id="68" name="Object 6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095891" y="3525743"/>
              <a:ext cx="1034465" cy="765212"/>
            </a:xfrm>
            <a:prstGeom prst="rect">
              <a:avLst/>
            </a:prstGeom>
          </p:spPr>
        </p:pic>
      </p:grpSp>
      <p:pic>
        <p:nvPicPr>
          <p:cNvPr id="70" name="Object 69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0863873" y="3442695"/>
            <a:ext cx="1547946" cy="1019050"/>
          </a:xfrm>
          <a:prstGeom prst="rect">
            <a:avLst/>
          </a:prstGeom>
        </p:spPr>
      </p:pic>
      <p:pic>
        <p:nvPicPr>
          <p:cNvPr id="71" name="Object 70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2163397" y="3575924"/>
            <a:ext cx="3606847" cy="100724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161923" y="4596465"/>
            <a:ext cx="3194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높은 성적 취득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4.5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학점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4.1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학점 등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BB426-1A5C-EFCA-C3D1-AD2C7199C3F6}"/>
              </a:ext>
            </a:extLst>
          </p:cNvPr>
          <p:cNvSpPr txBox="1"/>
          <p:nvPr/>
        </p:nvSpPr>
        <p:spPr>
          <a:xfrm>
            <a:off x="2679165" y="4730321"/>
            <a:ext cx="51748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함께 배움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AI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툴 멘토링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D0402-0544-DD7E-B24B-565FE644FC13}"/>
              </a:ext>
            </a:extLst>
          </p:cNvPr>
          <p:cNvSpPr txBox="1"/>
          <p:nvPr/>
        </p:nvSpPr>
        <p:spPr>
          <a:xfrm>
            <a:off x="2658329" y="7788414"/>
            <a:ext cx="52164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HTML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실습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AI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툴 활용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5A4DAD-67E9-2F88-D392-CDCC87CDD0AE}"/>
              </a:ext>
            </a:extLst>
          </p:cNvPr>
          <p:cNvSpPr txBox="1"/>
          <p:nvPr/>
        </p:nvSpPr>
        <p:spPr>
          <a:xfrm>
            <a:off x="11161923" y="6290758"/>
            <a:ext cx="3773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프로젝트 진행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학기 멘토링과 연계해 프로젝트 진행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609A51-6B00-8FE6-0E85-1A2401398ACA}"/>
              </a:ext>
            </a:extLst>
          </p:cNvPr>
          <p:cNvSpPr txBox="1"/>
          <p:nvPr/>
        </p:nvSpPr>
        <p:spPr>
          <a:xfrm>
            <a:off x="11161923" y="7911373"/>
            <a:ext cx="4230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월드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IT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쇼 단체 참관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endParaRPr lang="en-US" altLang="ko-KR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다양한 기술 트렌드 및 전시 프로젝트 경험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C2EDB8-280E-4C9D-E06D-12A909FA727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"/>
          </a:p>
        </p:txBody>
      </p:sp>
      <p:grpSp>
        <p:nvGrpSpPr>
          <p:cNvPr id="1001" name="그룹 1001"/>
          <p:cNvGrpSpPr/>
          <p:nvPr/>
        </p:nvGrpSpPr>
        <p:grpSpPr>
          <a:xfrm>
            <a:off x="376020" y="395408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54683" y="1035864"/>
            <a:ext cx="2727238" cy="833609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7706" y="639647"/>
            <a:ext cx="2643147" cy="857128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047163" y="639647"/>
            <a:ext cx="5539280" cy="857128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194092" y="6515100"/>
            <a:ext cx="7160675" cy="2923810"/>
            <a:chOff x="1156497" y="6481576"/>
            <a:chExt cx="7892913" cy="2923810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6497" y="6481576"/>
              <a:ext cx="7892913" cy="292381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56497" y="3390013"/>
            <a:ext cx="7149303" cy="2923810"/>
            <a:chOff x="1156497" y="3390013"/>
            <a:chExt cx="7892913" cy="2923810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6497" y="3390013"/>
              <a:ext cx="7892913" cy="292381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90519" y="3606019"/>
            <a:ext cx="1034465" cy="765212"/>
            <a:chOff x="1490519" y="3606019"/>
            <a:chExt cx="1034465" cy="76521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0519" y="3606019"/>
              <a:ext cx="1034465" cy="765212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94092" y="3512607"/>
            <a:ext cx="1609375" cy="1019051"/>
          </a:xfrm>
          <a:prstGeom prst="rect">
            <a:avLst/>
          </a:prstGeom>
        </p:spPr>
      </p:pic>
      <p:grpSp>
        <p:nvGrpSpPr>
          <p:cNvPr id="1017" name="그룹 1017"/>
          <p:cNvGrpSpPr/>
          <p:nvPr/>
        </p:nvGrpSpPr>
        <p:grpSpPr>
          <a:xfrm>
            <a:off x="1490519" y="6746997"/>
            <a:ext cx="1034465" cy="765212"/>
            <a:chOff x="1490519" y="6746997"/>
            <a:chExt cx="1034465" cy="765212"/>
          </a:xfrm>
        </p:grpSpPr>
        <p:pic>
          <p:nvPicPr>
            <p:cNvPr id="63" name="Object 6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0519" y="6746997"/>
              <a:ext cx="1034465" cy="765212"/>
            </a:xfrm>
            <a:prstGeom prst="rect">
              <a:avLst/>
            </a:prstGeom>
          </p:spPr>
        </p:pic>
      </p:grpSp>
      <p:pic>
        <p:nvPicPr>
          <p:cNvPr id="65" name="Object 6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235342" y="6653590"/>
            <a:ext cx="1561822" cy="1019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DACD6-7A40-1C13-AC95-99CEA5CC038B}"/>
              </a:ext>
            </a:extLst>
          </p:cNvPr>
          <p:cNvSpPr txBox="1"/>
          <p:nvPr/>
        </p:nvSpPr>
        <p:spPr>
          <a:xfrm>
            <a:off x="4525651" y="1664888"/>
            <a:ext cx="9234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1~2</a:t>
            </a:r>
            <a:r>
              <a:rPr lang="ko-KR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학기 동아리 지원금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AC072-D967-18D1-045D-5CF6680DCB4C}"/>
              </a:ext>
            </a:extLst>
          </p:cNvPr>
          <p:cNvSpPr txBox="1"/>
          <p:nvPr/>
        </p:nvSpPr>
        <p:spPr>
          <a:xfrm>
            <a:off x="2519179" y="3714810"/>
            <a:ext cx="53172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학기 지원금사용 내역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2206CB-911A-C89D-12E4-366AEEE45B92}"/>
              </a:ext>
            </a:extLst>
          </p:cNvPr>
          <p:cNvSpPr txBox="1"/>
          <p:nvPr/>
        </p:nvSpPr>
        <p:spPr>
          <a:xfrm>
            <a:off x="2524984" y="6852604"/>
            <a:ext cx="53172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학기 지원금사용 내역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목적</a:t>
            </a:r>
          </a:p>
        </p:txBody>
      </p:sp>
      <p:grpSp>
        <p:nvGrpSpPr>
          <p:cNvPr id="19" name="그룹 1009">
            <a:extLst>
              <a:ext uri="{FF2B5EF4-FFF2-40B4-BE49-F238E27FC236}">
                <a16:creationId xmlns:a16="http://schemas.microsoft.com/office/drawing/2014/main" id="{D1C45A75-1391-29BE-CDE0-E1F4A21D0742}"/>
              </a:ext>
            </a:extLst>
          </p:cNvPr>
          <p:cNvGrpSpPr/>
          <p:nvPr/>
        </p:nvGrpSpPr>
        <p:grpSpPr>
          <a:xfrm>
            <a:off x="9149516" y="3545020"/>
            <a:ext cx="3164916" cy="2373687"/>
            <a:chOff x="2442288" y="4206008"/>
            <a:chExt cx="3164916" cy="2373687"/>
          </a:xfrm>
        </p:grpSpPr>
        <p:pic>
          <p:nvPicPr>
            <p:cNvPr id="20" name="Object 32">
              <a:extLst>
                <a:ext uri="{FF2B5EF4-FFF2-40B4-BE49-F238E27FC236}">
                  <a16:creationId xmlns:a16="http://schemas.microsoft.com/office/drawing/2014/main" id="{B98FA246-CE2D-DFC3-B6F5-92C1D6D43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442288" y="4206008"/>
              <a:ext cx="3164916" cy="2373687"/>
            </a:xfrm>
            <a:prstGeom prst="rect">
              <a:avLst/>
            </a:prstGeom>
          </p:spPr>
        </p:pic>
      </p:grpSp>
      <p:grpSp>
        <p:nvGrpSpPr>
          <p:cNvPr id="21" name="그룹 1009">
            <a:extLst>
              <a:ext uri="{FF2B5EF4-FFF2-40B4-BE49-F238E27FC236}">
                <a16:creationId xmlns:a16="http://schemas.microsoft.com/office/drawing/2014/main" id="{DEDD65B1-E1F2-BB4F-8480-329AD2B62374}"/>
              </a:ext>
            </a:extLst>
          </p:cNvPr>
          <p:cNvGrpSpPr/>
          <p:nvPr/>
        </p:nvGrpSpPr>
        <p:grpSpPr>
          <a:xfrm>
            <a:off x="13487400" y="3545020"/>
            <a:ext cx="3183063" cy="2488532"/>
            <a:chOff x="1876593" y="4221362"/>
            <a:chExt cx="1096346" cy="857128"/>
          </a:xfrm>
        </p:grpSpPr>
        <p:pic>
          <p:nvPicPr>
            <p:cNvPr id="23" name="Object 32">
              <a:extLst>
                <a:ext uri="{FF2B5EF4-FFF2-40B4-BE49-F238E27FC236}">
                  <a16:creationId xmlns:a16="http://schemas.microsoft.com/office/drawing/2014/main" id="{ECF6C27D-9FED-7854-8E71-3F9073990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807" b="29084"/>
            <a:stretch/>
          </p:blipFill>
          <p:spPr>
            <a:xfrm>
              <a:off x="1876593" y="4221362"/>
              <a:ext cx="1096346" cy="857128"/>
            </a:xfrm>
            <a:prstGeom prst="rect">
              <a:avLst/>
            </a:prstGeom>
          </p:spPr>
        </p:pic>
      </p:grpSp>
      <p:grpSp>
        <p:nvGrpSpPr>
          <p:cNvPr id="24" name="그룹 1009">
            <a:extLst>
              <a:ext uri="{FF2B5EF4-FFF2-40B4-BE49-F238E27FC236}">
                <a16:creationId xmlns:a16="http://schemas.microsoft.com/office/drawing/2014/main" id="{F2E1A797-8BE7-BE85-F17D-C0D0C8F03027}"/>
              </a:ext>
            </a:extLst>
          </p:cNvPr>
          <p:cNvGrpSpPr/>
          <p:nvPr/>
        </p:nvGrpSpPr>
        <p:grpSpPr>
          <a:xfrm>
            <a:off x="9545130" y="6669686"/>
            <a:ext cx="2373687" cy="2373687"/>
            <a:chOff x="2837902" y="4206008"/>
            <a:chExt cx="2373687" cy="2373687"/>
          </a:xfrm>
        </p:grpSpPr>
        <p:pic>
          <p:nvPicPr>
            <p:cNvPr id="26" name="Object 32">
              <a:extLst>
                <a:ext uri="{FF2B5EF4-FFF2-40B4-BE49-F238E27FC236}">
                  <a16:creationId xmlns:a16="http://schemas.microsoft.com/office/drawing/2014/main" id="{E7A2F929-89CF-5370-D24E-A9FA28308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37902" y="4206008"/>
              <a:ext cx="2373687" cy="2373687"/>
            </a:xfrm>
            <a:prstGeom prst="rect">
              <a:avLst/>
            </a:prstGeom>
          </p:spPr>
        </p:pic>
      </p:grpSp>
      <p:grpSp>
        <p:nvGrpSpPr>
          <p:cNvPr id="28" name="그룹 1009">
            <a:extLst>
              <a:ext uri="{FF2B5EF4-FFF2-40B4-BE49-F238E27FC236}">
                <a16:creationId xmlns:a16="http://schemas.microsoft.com/office/drawing/2014/main" id="{AAEAB1B9-C04D-A0AE-31E3-349CEFED18DD}"/>
              </a:ext>
            </a:extLst>
          </p:cNvPr>
          <p:cNvGrpSpPr/>
          <p:nvPr/>
        </p:nvGrpSpPr>
        <p:grpSpPr>
          <a:xfrm>
            <a:off x="13151324" y="6764929"/>
            <a:ext cx="3819772" cy="2151009"/>
            <a:chOff x="2114860" y="4317347"/>
            <a:chExt cx="3819772" cy="2151009"/>
          </a:xfrm>
        </p:grpSpPr>
        <p:pic>
          <p:nvPicPr>
            <p:cNvPr id="30" name="Object 32">
              <a:extLst>
                <a:ext uri="{FF2B5EF4-FFF2-40B4-BE49-F238E27FC236}">
                  <a16:creationId xmlns:a16="http://schemas.microsoft.com/office/drawing/2014/main" id="{1E14817F-B077-F799-1D76-717F2F4C2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14860" y="4317347"/>
              <a:ext cx="3819772" cy="2151009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1B727E6-3E7D-35C7-2AFC-B35EAF025C16}"/>
              </a:ext>
            </a:extLst>
          </p:cNvPr>
          <p:cNvSpPr txBox="1"/>
          <p:nvPr/>
        </p:nvSpPr>
        <p:spPr>
          <a:xfrm>
            <a:off x="1879742" y="4610100"/>
            <a:ext cx="55915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/>
              <a:t>지원금은 구성원들이 원활히 모이고 </a:t>
            </a:r>
            <a:endParaRPr lang="en-US" altLang="ko-KR" sz="2400" dirty="0"/>
          </a:p>
          <a:p>
            <a:pPr algn="ctr"/>
            <a:r>
              <a:rPr lang="ko-KR" altLang="en-US" sz="2400" dirty="0"/>
              <a:t>의견을 나눌 수 있는 환경을 마련하는 데 </a:t>
            </a:r>
            <a:endParaRPr lang="en-US" altLang="ko-KR" sz="2400" dirty="0"/>
          </a:p>
          <a:p>
            <a:pPr algn="ctr"/>
            <a:r>
              <a:rPr lang="ko-KR" altLang="en-US" sz="2400" dirty="0"/>
              <a:t>사용해 활동 참여 기반을 다졌습니다</a:t>
            </a:r>
            <a:endParaRPr lang="en-US" altLang="ko-KR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F11FE-4E3E-A29F-6CA0-7A02657B5316}"/>
              </a:ext>
            </a:extLst>
          </p:cNvPr>
          <p:cNvSpPr txBox="1"/>
          <p:nvPr/>
        </p:nvSpPr>
        <p:spPr>
          <a:xfrm>
            <a:off x="1756308" y="7612440"/>
            <a:ext cx="58384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/>
              <a:t>안정적인 운영을 위해 구성원 간 </a:t>
            </a:r>
            <a:endParaRPr lang="en-US" altLang="ko-KR" sz="2400" dirty="0"/>
          </a:p>
          <a:p>
            <a:pPr algn="ctr"/>
            <a:r>
              <a:rPr lang="ko-KR" altLang="en-US" sz="2400" dirty="0"/>
              <a:t>협력 분위기를 강화하는 방향으로 집행해</a:t>
            </a:r>
            <a:r>
              <a:rPr lang="en-US" altLang="ko-KR" sz="2400" dirty="0"/>
              <a:t>, </a:t>
            </a:r>
          </a:p>
          <a:p>
            <a:pPr algn="ctr"/>
            <a:r>
              <a:rPr lang="ko-KR" altLang="en-US" sz="2400" dirty="0"/>
              <a:t>학기 말 활동 흐름을 정리</a:t>
            </a:r>
            <a:r>
              <a:rPr lang="en-US" altLang="ko-KR" sz="2400" dirty="0"/>
              <a:t>·</a:t>
            </a:r>
            <a:r>
              <a:rPr lang="ko-KR" altLang="en-US" sz="2400" dirty="0"/>
              <a:t>정돈하는 데 </a:t>
            </a:r>
            <a:endParaRPr lang="en-US" altLang="ko-KR" sz="2400" dirty="0"/>
          </a:p>
          <a:p>
            <a:pPr algn="ctr"/>
            <a:r>
              <a:rPr lang="ko-KR" altLang="en-US" sz="2400" dirty="0"/>
              <a:t>도움을 주었습니다</a:t>
            </a:r>
            <a:endParaRPr lang="en-US" altLang="ko-KR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347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1615" y="1385596"/>
            <a:ext cx="12578873" cy="190070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403131" y="3104299"/>
            <a:ext cx="15479452" cy="5672096"/>
            <a:chOff x="1403131" y="3104299"/>
            <a:chExt cx="15479452" cy="567209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3131" y="3104299"/>
              <a:ext cx="15479452" cy="567209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3742159" y="8228307"/>
            <a:ext cx="10801397" cy="1096177"/>
            <a:chOff x="3742159" y="8228307"/>
            <a:chExt cx="10801397" cy="109617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2159" y="8228307"/>
              <a:ext cx="10801397" cy="109617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461415" y="5690658"/>
            <a:ext cx="4209524" cy="28571"/>
            <a:chOff x="4461415" y="5690658"/>
            <a:chExt cx="4209524" cy="2857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5400000">
              <a:off x="4461415" y="5690658"/>
              <a:ext cx="4209524" cy="285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621415" y="5690658"/>
            <a:ext cx="4209524" cy="28571"/>
            <a:chOff x="9621415" y="5690658"/>
            <a:chExt cx="4209524" cy="28571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5400000">
              <a:off x="9621415" y="5690658"/>
              <a:ext cx="4209524" cy="28571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737585" y="8456857"/>
            <a:ext cx="639077" cy="639077"/>
            <a:chOff x="4737585" y="8456857"/>
            <a:chExt cx="639077" cy="639077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37585" y="8456857"/>
              <a:ext cx="639077" cy="639077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861836" y="1035864"/>
            <a:ext cx="2720666" cy="833609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77706" y="655742"/>
            <a:ext cx="2758023" cy="81420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5555580" y="8487503"/>
            <a:ext cx="8392402" cy="577784"/>
            <a:chOff x="5555580" y="8487503"/>
            <a:chExt cx="8392402" cy="577784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55580" y="8487503"/>
              <a:ext cx="8392402" cy="577784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2017294" y="655742"/>
            <a:ext cx="7086909" cy="814204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2182812" y="4277129"/>
            <a:ext cx="3440720" cy="2246795"/>
            <a:chOff x="2114860" y="5093315"/>
            <a:chExt cx="2018996" cy="131840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300" r="47144"/>
            <a:stretch/>
          </p:blipFill>
          <p:spPr>
            <a:xfrm>
              <a:off x="2114860" y="5093315"/>
              <a:ext cx="2018996" cy="1318407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2763974" y="3603588"/>
            <a:ext cx="560984" cy="414970"/>
            <a:chOff x="2763974" y="3603588"/>
            <a:chExt cx="560984" cy="414970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63974" y="3603588"/>
              <a:ext cx="560984" cy="414970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2771061" y="3525766"/>
            <a:ext cx="644604" cy="621604"/>
          </a:xfrm>
          <a:prstGeom prst="rect">
            <a:avLst/>
          </a:prstGeom>
        </p:spPr>
      </p:pic>
      <p:grpSp>
        <p:nvGrpSpPr>
          <p:cNvPr id="1011" name="그룹 1011"/>
          <p:cNvGrpSpPr/>
          <p:nvPr/>
        </p:nvGrpSpPr>
        <p:grpSpPr>
          <a:xfrm>
            <a:off x="7560399" y="4206008"/>
            <a:ext cx="3164916" cy="2373687"/>
            <a:chOff x="7560399" y="4206008"/>
            <a:chExt cx="3164916" cy="2373687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560399" y="4206008"/>
              <a:ext cx="3164916" cy="2373687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7882086" y="3603588"/>
            <a:ext cx="560984" cy="414970"/>
            <a:chOff x="7882086" y="3603588"/>
            <a:chExt cx="560984" cy="414970"/>
          </a:xfrm>
        </p:grpSpPr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82086" y="3603588"/>
              <a:ext cx="560984" cy="414970"/>
            </a:xfrm>
            <a:prstGeom prst="rect">
              <a:avLst/>
            </a:prstGeom>
          </p:spPr>
        </p:pic>
      </p:grpSp>
      <p:pic>
        <p:nvPicPr>
          <p:cNvPr id="47" name="Object 4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913285" y="3531323"/>
            <a:ext cx="615232" cy="604946"/>
          </a:xfrm>
          <a:prstGeom prst="rect">
            <a:avLst/>
          </a:prstGeom>
        </p:spPr>
      </p:pic>
      <p:grpSp>
        <p:nvGrpSpPr>
          <p:cNvPr id="1013" name="그룹 1013"/>
          <p:cNvGrpSpPr/>
          <p:nvPr/>
        </p:nvGrpSpPr>
        <p:grpSpPr>
          <a:xfrm>
            <a:off x="12382426" y="4457316"/>
            <a:ext cx="3819772" cy="1871071"/>
            <a:chOff x="12382426" y="4457316"/>
            <a:chExt cx="3819772" cy="1871071"/>
          </a:xfrm>
        </p:grpSpPr>
        <p:pic>
          <p:nvPicPr>
            <p:cNvPr id="49" name="Object 48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382426" y="4457316"/>
              <a:ext cx="3819772" cy="1871071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3031540" y="3603588"/>
            <a:ext cx="560984" cy="414970"/>
            <a:chOff x="13031540" y="3603588"/>
            <a:chExt cx="560984" cy="414970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031540" y="3603588"/>
              <a:ext cx="560984" cy="414970"/>
            </a:xfrm>
            <a:prstGeom prst="rect">
              <a:avLst/>
            </a:prstGeom>
          </p:spPr>
        </p:pic>
      </p:grpSp>
      <p:pic>
        <p:nvPicPr>
          <p:cNvPr id="55" name="Object 54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3067190" y="3531323"/>
            <a:ext cx="610755" cy="6049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BD51FB-22F2-627D-E0A5-67D6FC4DCBE1}"/>
              </a:ext>
            </a:extLst>
          </p:cNvPr>
          <p:cNvSpPr txBox="1"/>
          <p:nvPr/>
        </p:nvSpPr>
        <p:spPr>
          <a:xfrm>
            <a:off x="3321838" y="3592231"/>
            <a:ext cx="136084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함께배움</a:t>
            </a:r>
            <a:endParaRPr lang="ko-KR" altLang="en-US" sz="2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CD7C9-BED0-1D74-E2E8-AF343FBBB023}"/>
              </a:ext>
            </a:extLst>
          </p:cNvPr>
          <p:cNvSpPr txBox="1"/>
          <p:nvPr/>
        </p:nvSpPr>
        <p:spPr>
          <a:xfrm>
            <a:off x="8443069" y="3592231"/>
            <a:ext cx="264164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AI</a:t>
            </a:r>
            <a:r>
              <a:rPr lang="ko-KR" altLang="en-US" sz="23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페어 프로그래밍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8F2D0-7CC2-8970-430E-1E236600E778}"/>
              </a:ext>
            </a:extLst>
          </p:cNvPr>
          <p:cNvSpPr txBox="1"/>
          <p:nvPr/>
        </p:nvSpPr>
        <p:spPr>
          <a:xfrm>
            <a:off x="13624495" y="3592231"/>
            <a:ext cx="223224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HTML </a:t>
            </a:r>
            <a:r>
              <a:rPr lang="ko-KR" altLang="en-US" sz="23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F715C-6C19-DDFE-8452-73EC65CB658D}"/>
              </a:ext>
            </a:extLst>
          </p:cNvPr>
          <p:cNvSpPr txBox="1"/>
          <p:nvPr/>
        </p:nvSpPr>
        <p:spPr>
          <a:xfrm>
            <a:off x="1813198" y="6846817"/>
            <a:ext cx="43781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총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명의 학생이 온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오프라인으로 참여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성적 향상에 유의미한 도움 주는 활동이었다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29FDA-74BA-3B9E-C089-437263BB3027}"/>
              </a:ext>
            </a:extLst>
          </p:cNvPr>
          <p:cNvSpPr txBox="1"/>
          <p:nvPr/>
        </p:nvSpPr>
        <p:spPr>
          <a:xfrm>
            <a:off x="6752093" y="6846817"/>
            <a:ext cx="4740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chatGPT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말고도 다양한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툴을 배울 수 있었다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algn="ctr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학기 프로그래밍 활동과 연계하여 이용하였다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D23B5F-78AF-A49E-73FD-1FAD6F7E1702}"/>
              </a:ext>
            </a:extLst>
          </p:cNvPr>
          <p:cNvSpPr txBox="1"/>
          <p:nvPr/>
        </p:nvSpPr>
        <p:spPr>
          <a:xfrm>
            <a:off x="12051958" y="6846817"/>
            <a:ext cx="44807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HTML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CSS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이용하여 동아리 홈페이지를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디자인하고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구현해보았다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1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학기 때 학습했던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툴을 사용하였다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C42EB-C5F0-965C-C1A5-8AA2B194C72C}"/>
              </a:ext>
            </a:extLst>
          </p:cNvPr>
          <p:cNvSpPr txBox="1"/>
          <p:nvPr/>
        </p:nvSpPr>
        <p:spPr>
          <a:xfrm>
            <a:off x="5755856" y="8496300"/>
            <a:ext cx="79601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비교과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프로그램 참여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및 다양한 활동 연계해 참여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28824" y="1385596"/>
            <a:ext cx="12752664" cy="190070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7706" y="655743"/>
            <a:ext cx="2758022" cy="814203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676649" y="655743"/>
            <a:ext cx="6094956" cy="814203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2599598" y="2716451"/>
            <a:ext cx="13086519" cy="1347300"/>
            <a:chOff x="2599598" y="2716451"/>
            <a:chExt cx="13086519" cy="134730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9598" y="2716451"/>
              <a:ext cx="13086519" cy="134730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599598" y="4360722"/>
            <a:ext cx="6319059" cy="4877950"/>
            <a:chOff x="2599598" y="4360722"/>
            <a:chExt cx="6319059" cy="487795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99598" y="4360722"/>
              <a:ext cx="6319059" cy="487795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166157" y="3066380"/>
            <a:ext cx="639077" cy="639077"/>
            <a:chOff x="4166157" y="3066380"/>
            <a:chExt cx="639077" cy="63907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66157" y="3066380"/>
              <a:ext cx="639077" cy="639077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5239133" y="3064656"/>
            <a:ext cx="2632379" cy="577784"/>
            <a:chOff x="5899183" y="3050284"/>
            <a:chExt cx="7698188" cy="57778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99183" y="3050284"/>
              <a:ext cx="7698188" cy="57778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323964" y="4360722"/>
            <a:ext cx="6319059" cy="4877950"/>
            <a:chOff x="9323964" y="4360722"/>
            <a:chExt cx="6319059" cy="4877950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23964" y="4360722"/>
              <a:ext cx="6319059" cy="4877950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871512" y="1029455"/>
            <a:ext cx="2712913" cy="8395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9C1F3C-4701-1654-DE50-A378DD0A8853}"/>
              </a:ext>
            </a:extLst>
          </p:cNvPr>
          <p:cNvSpPr txBox="1"/>
          <p:nvPr/>
        </p:nvSpPr>
        <p:spPr>
          <a:xfrm>
            <a:off x="5037271" y="3181792"/>
            <a:ext cx="3268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자체평가 점수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B-</a:t>
            </a:r>
            <a:endParaRPr lang="ko-KR" altLang="en-US" sz="2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42F0D-1842-EB14-111D-B21D5258F19C}"/>
              </a:ext>
            </a:extLst>
          </p:cNvPr>
          <p:cNvSpPr txBox="1"/>
          <p:nvPr/>
        </p:nvSpPr>
        <p:spPr>
          <a:xfrm>
            <a:off x="5154734" y="4895325"/>
            <a:ext cx="1208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이유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1</a:t>
            </a:r>
            <a:endParaRPr lang="ko-KR" altLang="en-US" sz="2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6868E-8BE2-13D1-1BB7-F57E60348165}"/>
              </a:ext>
            </a:extLst>
          </p:cNvPr>
          <p:cNvSpPr txBox="1"/>
          <p:nvPr/>
        </p:nvSpPr>
        <p:spPr>
          <a:xfrm>
            <a:off x="11879100" y="4895325"/>
            <a:ext cx="1208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이유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2</a:t>
            </a:r>
            <a:endParaRPr lang="ko-KR" altLang="en-US" sz="2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5EBFF5-951B-57FC-75B3-F91235CE7591}"/>
              </a:ext>
            </a:extLst>
          </p:cNvPr>
          <p:cNvSpPr txBox="1"/>
          <p:nvPr/>
        </p:nvSpPr>
        <p:spPr>
          <a:xfrm>
            <a:off x="2959322" y="6192520"/>
            <a:ext cx="55996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/>
              <a:t>구성원 간 </a:t>
            </a:r>
            <a:r>
              <a:rPr lang="ko-KR" altLang="en-US" sz="2400" b="1" dirty="0"/>
              <a:t>참여 흐름</a:t>
            </a:r>
            <a:r>
              <a:rPr lang="ko-KR" altLang="en-US" sz="2400" dirty="0"/>
              <a:t>이 기대만큼 </a:t>
            </a:r>
            <a:endParaRPr lang="en-US" altLang="ko-KR" sz="2400" dirty="0"/>
          </a:p>
          <a:p>
            <a:pPr algn="ctr"/>
            <a:r>
              <a:rPr lang="ko-KR" altLang="en-US" sz="2400" dirty="0"/>
              <a:t>고르게 이어지지 않았고</a:t>
            </a:r>
            <a:r>
              <a:rPr lang="en-US" altLang="ko-KR" sz="2400" dirty="0"/>
              <a:t>, </a:t>
            </a:r>
          </a:p>
          <a:p>
            <a:pPr algn="ctr"/>
            <a:r>
              <a:rPr lang="ko-KR" altLang="en-US" sz="2400" b="1" dirty="0"/>
              <a:t>지원금 사용에도 제약이 </a:t>
            </a:r>
            <a:r>
              <a:rPr lang="ko-KR" altLang="en-US" sz="2400" dirty="0"/>
              <a:t>있어 </a:t>
            </a:r>
            <a:endParaRPr lang="en-US" altLang="ko-KR" sz="2400" dirty="0"/>
          </a:p>
          <a:p>
            <a:pPr algn="ctr"/>
            <a:r>
              <a:rPr lang="ko-KR" altLang="en-US" sz="2400" dirty="0"/>
              <a:t>활동 운영을 넓히는 데 어려움이 있었다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endParaRPr lang="en-US" altLang="ko-KR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C1CC76-7031-CB28-0201-280E27A478DA}"/>
              </a:ext>
            </a:extLst>
          </p:cNvPr>
          <p:cNvSpPr txBox="1"/>
          <p:nvPr/>
        </p:nvSpPr>
        <p:spPr>
          <a:xfrm>
            <a:off x="9751012" y="6192520"/>
            <a:ext cx="54649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/>
              <a:t>다만 </a:t>
            </a:r>
            <a:r>
              <a:rPr lang="en-US" altLang="ko-KR" sz="2400" b="1" dirty="0"/>
              <a:t>1·2</a:t>
            </a:r>
            <a:r>
              <a:rPr lang="ko-KR" altLang="en-US" sz="2400" b="1" dirty="0"/>
              <a:t>학기 프로젝트와 </a:t>
            </a:r>
            <a:r>
              <a:rPr lang="ko-KR" altLang="en-US" sz="2400" b="1" dirty="0" err="1"/>
              <a:t>비교과</a:t>
            </a:r>
            <a:r>
              <a:rPr lang="ko-KR" altLang="en-US" sz="2400" b="1" dirty="0"/>
              <a:t> 활동에</a:t>
            </a:r>
            <a:endParaRPr lang="en-US" altLang="ko-KR" sz="2400" b="1" dirty="0"/>
          </a:p>
          <a:p>
            <a:pPr algn="ctr"/>
            <a:r>
              <a:rPr lang="ko-KR" altLang="en-US" sz="2400" dirty="0"/>
              <a:t> 꾸준히 참여하여 </a:t>
            </a:r>
            <a:r>
              <a:rPr lang="ko-KR" altLang="en-US" sz="2400" b="1" dirty="0"/>
              <a:t>학기별 활동 체계는 </a:t>
            </a:r>
            <a:endParaRPr lang="en-US" altLang="ko-KR" sz="2400" b="1" dirty="0"/>
          </a:p>
          <a:p>
            <a:pPr algn="ctr"/>
            <a:r>
              <a:rPr lang="ko-KR" altLang="en-US" sz="2400" b="1" dirty="0"/>
              <a:t>안정적으로 유지되었고</a:t>
            </a:r>
            <a:r>
              <a:rPr lang="en-US" altLang="ko-KR" sz="2400" dirty="0"/>
              <a:t>, </a:t>
            </a:r>
          </a:p>
          <a:p>
            <a:pPr algn="ctr"/>
            <a:r>
              <a:rPr lang="ko-KR" altLang="en-US" sz="2400" dirty="0"/>
              <a:t>일정 수준의 성과를 축적했다</a:t>
            </a:r>
            <a:r>
              <a:rPr lang="en-US" altLang="ko-KR" sz="24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40062" y="1385596"/>
            <a:ext cx="13520206" cy="190070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45274" y="1029455"/>
            <a:ext cx="2602275" cy="839513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7706" y="655743"/>
            <a:ext cx="2758022" cy="814203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530725" y="655743"/>
            <a:ext cx="10813765" cy="814203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558026" y="3390013"/>
            <a:ext cx="7493175" cy="2923810"/>
            <a:chOff x="1558026" y="3390013"/>
            <a:chExt cx="7493175" cy="292381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8026" y="3390013"/>
              <a:ext cx="7493175" cy="292381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113854" y="3967461"/>
            <a:ext cx="1768913" cy="1768913"/>
            <a:chOff x="2113854" y="3967461"/>
            <a:chExt cx="1768913" cy="1768913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3854" y="3967461"/>
              <a:ext cx="1768913" cy="176891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460407" y="4224203"/>
            <a:ext cx="1098701" cy="1098701"/>
            <a:chOff x="2460407" y="4224203"/>
            <a:chExt cx="1098701" cy="1098701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60407" y="4224203"/>
              <a:ext cx="1098701" cy="109870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296171" y="4851918"/>
            <a:ext cx="4068910" cy="946987"/>
            <a:chOff x="4296171" y="4851918"/>
            <a:chExt cx="4068910" cy="946987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96171" y="4851918"/>
              <a:ext cx="4068910" cy="946987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9238095" y="3390013"/>
            <a:ext cx="7493175" cy="2923810"/>
            <a:chOff x="9238095" y="3390013"/>
            <a:chExt cx="7493175" cy="292381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38095" y="3390013"/>
              <a:ext cx="7493175" cy="292381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1976240" y="4851918"/>
            <a:ext cx="4066667" cy="946987"/>
            <a:chOff x="11976240" y="4851918"/>
            <a:chExt cx="4066667" cy="946987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76240" y="4851918"/>
              <a:ext cx="4066667" cy="946987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558026" y="6503787"/>
            <a:ext cx="7493175" cy="2923810"/>
            <a:chOff x="1558026" y="6503787"/>
            <a:chExt cx="7493175" cy="2923810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8026" y="6503787"/>
              <a:ext cx="7493175" cy="2923810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4303076" y="7965691"/>
            <a:ext cx="4066667" cy="946987"/>
            <a:chOff x="4303076" y="7965691"/>
            <a:chExt cx="4066667" cy="946987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03076" y="7965691"/>
              <a:ext cx="4066667" cy="946987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9238095" y="6503787"/>
            <a:ext cx="7493175" cy="2923810"/>
            <a:chOff x="9238095" y="6503787"/>
            <a:chExt cx="7493175" cy="2923810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38095" y="6503787"/>
              <a:ext cx="7493175" cy="292381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9814894" y="3967461"/>
            <a:ext cx="1768913" cy="1768913"/>
            <a:chOff x="9814894" y="3967461"/>
            <a:chExt cx="1768913" cy="1768913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814894" y="3967461"/>
              <a:ext cx="1768913" cy="1768913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2113854" y="7081235"/>
            <a:ext cx="1768913" cy="1768913"/>
            <a:chOff x="2113854" y="7081235"/>
            <a:chExt cx="1768913" cy="1768913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13854" y="7081235"/>
              <a:ext cx="1768913" cy="1768913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9814894" y="7081235"/>
            <a:ext cx="1768913" cy="1768913"/>
            <a:chOff x="9814894" y="7081235"/>
            <a:chExt cx="1768913" cy="1768913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14894" y="7081235"/>
              <a:ext cx="1768913" cy="1768913"/>
            </a:xfrm>
            <a:prstGeom prst="rect">
              <a:avLst/>
            </a:prstGeom>
          </p:spPr>
        </p:pic>
      </p:grpSp>
      <p:grpSp>
        <p:nvGrpSpPr>
          <p:cNvPr id="1015" name="그룹 1015"/>
          <p:cNvGrpSpPr/>
          <p:nvPr/>
        </p:nvGrpSpPr>
        <p:grpSpPr>
          <a:xfrm>
            <a:off x="11983145" y="7965691"/>
            <a:ext cx="4066667" cy="946987"/>
            <a:chOff x="11983145" y="7965691"/>
            <a:chExt cx="4066667" cy="946987"/>
          </a:xfrm>
        </p:grpSpPr>
        <p:pic>
          <p:nvPicPr>
            <p:cNvPr id="56" name="Object 55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83145" y="7965691"/>
              <a:ext cx="4066667" cy="946987"/>
            </a:xfrm>
            <a:prstGeom prst="rect">
              <a:avLst/>
            </a:prstGeom>
          </p:spPr>
        </p:pic>
      </p:grpSp>
      <p:grpSp>
        <p:nvGrpSpPr>
          <p:cNvPr id="1016" name="그룹 1016"/>
          <p:cNvGrpSpPr/>
          <p:nvPr/>
        </p:nvGrpSpPr>
        <p:grpSpPr>
          <a:xfrm>
            <a:off x="10205082" y="7471423"/>
            <a:ext cx="988536" cy="988536"/>
            <a:chOff x="10205082" y="7471423"/>
            <a:chExt cx="988536" cy="988536"/>
          </a:xfrm>
        </p:grpSpPr>
        <p:pic>
          <p:nvPicPr>
            <p:cNvPr id="59" name="Object 5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05082" y="7471423"/>
              <a:ext cx="988536" cy="988536"/>
            </a:xfrm>
            <a:prstGeom prst="rect">
              <a:avLst/>
            </a:prstGeom>
          </p:spPr>
        </p:pic>
      </p:grpSp>
      <p:grpSp>
        <p:nvGrpSpPr>
          <p:cNvPr id="1017" name="그룹 1017"/>
          <p:cNvGrpSpPr/>
          <p:nvPr/>
        </p:nvGrpSpPr>
        <p:grpSpPr>
          <a:xfrm>
            <a:off x="10164755" y="4233299"/>
            <a:ext cx="1063754" cy="1063754"/>
            <a:chOff x="10164755" y="4233299"/>
            <a:chExt cx="1063754" cy="1063754"/>
          </a:xfrm>
        </p:grpSpPr>
        <p:pic>
          <p:nvPicPr>
            <p:cNvPr id="64" name="Object 6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64755" y="4233299"/>
              <a:ext cx="1063754" cy="1063754"/>
            </a:xfrm>
            <a:prstGeom prst="rect">
              <a:avLst/>
            </a:prstGeom>
          </p:spPr>
        </p:pic>
      </p:grpSp>
      <p:grpSp>
        <p:nvGrpSpPr>
          <p:cNvPr id="1018" name="그룹 1018"/>
          <p:cNvGrpSpPr/>
          <p:nvPr/>
        </p:nvGrpSpPr>
        <p:grpSpPr>
          <a:xfrm>
            <a:off x="2580200" y="7538057"/>
            <a:ext cx="874316" cy="874316"/>
            <a:chOff x="2580200" y="7538057"/>
            <a:chExt cx="874316" cy="874316"/>
          </a:xfrm>
        </p:grpSpPr>
        <p:pic>
          <p:nvPicPr>
            <p:cNvPr id="67" name="Object 66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80200" y="7538057"/>
              <a:ext cx="874316" cy="87431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814BA9F-4D6B-3040-3829-F0FE5C137788}"/>
              </a:ext>
            </a:extLst>
          </p:cNvPr>
          <p:cNvSpPr txBox="1"/>
          <p:nvPr/>
        </p:nvSpPr>
        <p:spPr>
          <a:xfrm>
            <a:off x="4200316" y="3954283"/>
            <a:ext cx="1208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직무탐방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EEB11-2506-3835-3768-BBB7D4CE92FF}"/>
              </a:ext>
            </a:extLst>
          </p:cNvPr>
          <p:cNvSpPr txBox="1"/>
          <p:nvPr/>
        </p:nvSpPr>
        <p:spPr>
          <a:xfrm>
            <a:off x="11880383" y="3954283"/>
            <a:ext cx="1208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함께 배움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CB062-8847-5EB2-18B3-1A12E62880AF}"/>
              </a:ext>
            </a:extLst>
          </p:cNvPr>
          <p:cNvSpPr txBox="1"/>
          <p:nvPr/>
        </p:nvSpPr>
        <p:spPr>
          <a:xfrm>
            <a:off x="4296171" y="7067342"/>
            <a:ext cx="176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팀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CAA4C-9BAC-0ED7-C419-E022D2449857}"/>
              </a:ext>
            </a:extLst>
          </p:cNvPr>
          <p:cNvSpPr txBox="1"/>
          <p:nvPr/>
        </p:nvSpPr>
        <p:spPr>
          <a:xfrm>
            <a:off x="11880382" y="7067342"/>
            <a:ext cx="2292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시험 대비 정보 공유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3711B-5FBB-CFB9-941D-6CE069DD68A0}"/>
              </a:ext>
            </a:extLst>
          </p:cNvPr>
          <p:cNvSpPr txBox="1"/>
          <p:nvPr/>
        </p:nvSpPr>
        <p:spPr>
          <a:xfrm>
            <a:off x="4200316" y="4378163"/>
            <a:ext cx="4557658" cy="87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실제 산업 현장 경험하여 직무 이해도↑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최신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IT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트렌드와 기술 접하고 실무 감각↑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86F4F-D35D-446C-E09A-C8CA8AFD25BD}"/>
              </a:ext>
            </a:extLst>
          </p:cNvPr>
          <p:cNvSpPr txBox="1"/>
          <p:nvPr/>
        </p:nvSpPr>
        <p:spPr>
          <a:xfrm>
            <a:off x="11878709" y="4378163"/>
            <a:ext cx="4474302" cy="1290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학습 방향 및 진로에 대한 조언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구성원 간 지식과 경험 공유로 학습 효과↑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동기 부여 및 학습 지속성 증가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B6832C-40AA-147A-90EF-FEC1A5960531}"/>
              </a:ext>
            </a:extLst>
          </p:cNvPr>
          <p:cNvSpPr txBox="1"/>
          <p:nvPr/>
        </p:nvSpPr>
        <p:spPr>
          <a:xfrm>
            <a:off x="4296700" y="7502339"/>
            <a:ext cx="3967753" cy="1290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 해결 능력과 의사소통 능력 강화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실무 능력 체험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조직 적응력 증가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65ECDC-B36B-C707-4CF5-8B019DDF9BC9}"/>
              </a:ext>
            </a:extLst>
          </p:cNvPr>
          <p:cNvSpPr txBox="1"/>
          <p:nvPr/>
        </p:nvSpPr>
        <p:spPr>
          <a:xfrm>
            <a:off x="11878709" y="7502339"/>
            <a:ext cx="3884397" cy="1290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효율적인 학습 포인트 체득 가능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교수님 별 시험 대비 팁 얻을 수 있음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시험 준비 시간을 효율적으로 관리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175176" y="1385596"/>
            <a:ext cx="17966683" cy="190070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766980" y="1122412"/>
            <a:ext cx="2751754" cy="511570"/>
            <a:chOff x="7766980" y="1122412"/>
            <a:chExt cx="2751754" cy="51157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6980" y="1122412"/>
              <a:ext cx="2751754" cy="511570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57912" y="1035864"/>
            <a:ext cx="2724066" cy="833609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7706" y="655742"/>
            <a:ext cx="2777070" cy="814204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476068" y="655742"/>
            <a:ext cx="6409080" cy="814204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438290" y="7735666"/>
            <a:ext cx="15409135" cy="1588818"/>
            <a:chOff x="1438290" y="7735666"/>
            <a:chExt cx="15409135" cy="158881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38290" y="7735666"/>
              <a:ext cx="15409135" cy="158881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993161" y="8238223"/>
            <a:ext cx="639077" cy="639077"/>
            <a:chOff x="1993161" y="8171542"/>
            <a:chExt cx="639077" cy="639077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93161" y="8171542"/>
              <a:ext cx="639077" cy="63907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760227" y="5077939"/>
            <a:ext cx="765260" cy="748412"/>
            <a:chOff x="8760227" y="5077939"/>
            <a:chExt cx="765260" cy="748412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60227" y="5077939"/>
              <a:ext cx="765260" cy="74841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16644" y="3781161"/>
            <a:ext cx="7018730" cy="3612425"/>
            <a:chOff x="1416644" y="3781161"/>
            <a:chExt cx="7018730" cy="3612425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16644" y="3781161"/>
              <a:ext cx="7018730" cy="3612425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2664895" y="3413239"/>
            <a:ext cx="4522228" cy="757572"/>
            <a:chOff x="2664895" y="3413239"/>
            <a:chExt cx="4522228" cy="757572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64895" y="3413239"/>
              <a:ext cx="4522228" cy="75757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2099803" y="5004299"/>
            <a:ext cx="5682510" cy="1976291"/>
            <a:chOff x="2099803" y="5004299"/>
            <a:chExt cx="5682510" cy="1976291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99803" y="5004299"/>
              <a:ext cx="5682510" cy="197629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9778683" y="3781161"/>
            <a:ext cx="7018730" cy="3612425"/>
            <a:chOff x="9778683" y="3781161"/>
            <a:chExt cx="7018730" cy="3612425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78683" y="3781161"/>
              <a:ext cx="7018730" cy="3612425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211912" y="3413239"/>
            <a:ext cx="4152273" cy="757572"/>
            <a:chOff x="11211912" y="3413239"/>
            <a:chExt cx="4152273" cy="757572"/>
          </a:xfrm>
        </p:grpSpPr>
        <p:pic>
          <p:nvPicPr>
            <p:cNvPr id="38" name="Object 37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11912" y="3413239"/>
              <a:ext cx="4152273" cy="75757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0461842" y="5004299"/>
            <a:ext cx="5682510" cy="1976291"/>
            <a:chOff x="10461842" y="5004299"/>
            <a:chExt cx="5682510" cy="1976291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61842" y="5004299"/>
              <a:ext cx="5682510" cy="197629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74F8874-4984-84A7-5ECC-44C2ADDA63D1}"/>
              </a:ext>
            </a:extLst>
          </p:cNvPr>
          <p:cNvSpPr txBox="1"/>
          <p:nvPr/>
        </p:nvSpPr>
        <p:spPr>
          <a:xfrm>
            <a:off x="2028857" y="4518796"/>
            <a:ext cx="4980851" cy="22249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활동 시간 을 효율적으로 사용하지 못함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프로젝트 진행 중 의견 조율이 다소 느림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 공유가 한 번의 활동에  집중되는 경향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존재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결과물 정리 미흡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2C2540-EC61-7778-2BB7-BFAFC0EE3B85}"/>
              </a:ext>
            </a:extLst>
          </p:cNvPr>
          <p:cNvSpPr txBox="1"/>
          <p:nvPr/>
        </p:nvSpPr>
        <p:spPr>
          <a:xfrm>
            <a:off x="10518734" y="4518796"/>
            <a:ext cx="4878259" cy="22249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활동 별 목표와 역할 미리 공유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회의 및 활동 전 안건 공유 및 역할 분담 명확화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더욱 짧고 정기적이며 자율적인 공유 세션 운영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결과물 템플릿 활용 및 간단한 회고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03DD84-F282-A01E-0962-CF4EE5CD97F8}"/>
              </a:ext>
            </a:extLst>
          </p:cNvPr>
          <p:cNvSpPr txBox="1"/>
          <p:nvPr/>
        </p:nvSpPr>
        <p:spPr>
          <a:xfrm>
            <a:off x="4321616" y="3589136"/>
            <a:ext cx="1208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개선 사항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70EF5-DB3F-8F85-0F6D-BE0B372C52B6}"/>
              </a:ext>
            </a:extLst>
          </p:cNvPr>
          <p:cNvSpPr txBox="1"/>
          <p:nvPr/>
        </p:nvSpPr>
        <p:spPr>
          <a:xfrm>
            <a:off x="12698704" y="3589136"/>
            <a:ext cx="1208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개선 방안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46A2C-16CE-BD96-B69B-9D6A731FD9C4}"/>
              </a:ext>
            </a:extLst>
          </p:cNvPr>
          <p:cNvSpPr txBox="1"/>
          <p:nvPr/>
        </p:nvSpPr>
        <p:spPr>
          <a:xfrm>
            <a:off x="2799895" y="8297766"/>
            <a:ext cx="1334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활동 효율과 협업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정보 공유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결과물 정리를 더욱 강화해 동아리 성과를 높일 수 있음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76021" y="394766"/>
            <a:ext cx="17533673" cy="9496183"/>
            <a:chOff x="376021" y="394766"/>
            <a:chExt cx="17533673" cy="94961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021" y="394766"/>
              <a:ext cx="17533673" cy="949618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0796991" y="3076919"/>
            <a:ext cx="4571429" cy="1951641"/>
            <a:chOff x="10796991" y="3076919"/>
            <a:chExt cx="4571429" cy="1951641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96991" y="3076919"/>
              <a:ext cx="4571429" cy="1951641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917070" y="2325940"/>
            <a:ext cx="4825790" cy="3695142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5739386" y="5227747"/>
            <a:ext cx="8506680" cy="1951641"/>
            <a:chOff x="5739386" y="5227747"/>
            <a:chExt cx="8506680" cy="195164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39386" y="5227747"/>
              <a:ext cx="8506680" cy="195164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72313" y="5227747"/>
            <a:ext cx="4575243" cy="1951641"/>
            <a:chOff x="972313" y="5227747"/>
            <a:chExt cx="4575243" cy="1951641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313" y="5227747"/>
              <a:ext cx="4575243" cy="1951641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050740" y="4459130"/>
            <a:ext cx="8487218" cy="3695142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77074" y="4473194"/>
            <a:ext cx="6086447" cy="3695142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3885082" y="3076919"/>
            <a:ext cx="6703354" cy="1951641"/>
            <a:chOff x="3885082" y="3076919"/>
            <a:chExt cx="6703354" cy="1951641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85082" y="3076919"/>
              <a:ext cx="6703354" cy="195164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4234578" y="2562352"/>
            <a:ext cx="2301109" cy="2381102"/>
            <a:chOff x="14234578" y="2562352"/>
            <a:chExt cx="2301109" cy="238110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234578" y="2562352"/>
              <a:ext cx="2301109" cy="2381102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279087" y="2301090"/>
            <a:ext cx="8182418" cy="3733009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1085049" y="3076919"/>
            <a:ext cx="2579287" cy="1951641"/>
            <a:chOff x="1085049" y="3076919"/>
            <a:chExt cx="2579287" cy="1951641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85049" y="3076919"/>
              <a:ext cx="2579287" cy="1951641"/>
            </a:xfrm>
            <a:prstGeom prst="rect">
              <a:avLst/>
            </a:prstGeom>
          </p:spPr>
        </p:pic>
      </p:grpSp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67395" y="2364966"/>
            <a:ext cx="3339387" cy="3628929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4435643" y="5227747"/>
            <a:ext cx="2811092" cy="1951641"/>
            <a:chOff x="14435643" y="5227747"/>
            <a:chExt cx="2811092" cy="1951641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435643" y="5227747"/>
              <a:ext cx="2811092" cy="195164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4606717" y="582524"/>
            <a:ext cx="3075943" cy="723760"/>
            <a:chOff x="14606717" y="582524"/>
            <a:chExt cx="3075943" cy="723760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06717" y="582524"/>
              <a:ext cx="3075943" cy="723760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4580228" y="4451922"/>
            <a:ext cx="3350761" cy="37330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7E0D74-3FCE-0C00-7967-CEB26E2FB594}"/>
              </a:ext>
            </a:extLst>
          </p:cNvPr>
          <p:cNvSpPr txBox="1"/>
          <p:nvPr/>
        </p:nvSpPr>
        <p:spPr>
          <a:xfrm>
            <a:off x="3692224" y="8963680"/>
            <a:ext cx="10916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빌드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(BUILD)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동아리 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|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회장 </a:t>
            </a:r>
            <a:r>
              <a:rPr lang="ko-KR" altLang="en-US" sz="2800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정유림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|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부회장 박현선 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|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총무 황민지 외 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22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427</Words>
  <Application>Microsoft Office PowerPoint</Application>
  <PresentationFormat>사용자 지정</PresentationFormat>
  <Paragraphs>85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HG꼬딕씨_Pro 60g</vt:lpstr>
      <vt:lpstr>Noto Sans KR</vt:lpstr>
      <vt:lpstr>Noto Sans KR Black</vt:lpstr>
      <vt:lpstr>Noto Sans KR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유림 정</cp:lastModifiedBy>
  <cp:revision>15</cp:revision>
  <dcterms:created xsi:type="dcterms:W3CDTF">2023-11-02T10:22:08Z</dcterms:created>
  <dcterms:modified xsi:type="dcterms:W3CDTF">2025-11-21T05:52:24Z</dcterms:modified>
</cp:coreProperties>
</file>